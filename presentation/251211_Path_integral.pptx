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5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Frank Ruhl Libre" panose="00000500000000000000" pitchFamily="2" charset="-79"/>
      <p:regular r:id="rId14"/>
      <p:bold r:id="rId15"/>
    </p:embeddedFont>
    <p:embeddedFont>
      <p:font typeface="Montserrat" panose="00000500000000000000" pitchFamily="2" charset="0"/>
      <p:regular r:id="rId16"/>
      <p:bold r:id="rId17"/>
      <p:italic r:id="rId18"/>
      <p:boldItalic r:id="rId19"/>
    </p:embeddedFont>
    <p:embeddedFont>
      <p:font typeface="Montserrat Medium" panose="00000600000000000000" pitchFamily="2" charset="0"/>
      <p:regular r:id="rId20"/>
      <p:bold r:id="rId21"/>
      <p:italic r:id="rId22"/>
      <p:boldItalic r:id="rId23"/>
    </p:embeddedFont>
    <p:embeddedFont>
      <p:font typeface="Montserrat SemiBold" panose="000007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2" d="100"/>
          <a:sy n="92" d="100"/>
        </p:scale>
        <p:origin x="352" y="4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f5a86f13a_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f5a86f13a_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f5a86f13a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f5a86f13a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More on the relativity problem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Two Electrons Exchanging a Photon (Quantum Electrodynamics)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&gt;&gt; calculate two completely separate scenarios and add them together (A emits first/B emits first). Hamiltonian picture forces you to treat these as distinct physical processes (Different observers disagree on which term is which)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path integral, integrates over all spacetime positions, same for all observers (Feynman diagram)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Lorentz Symmetry (covariance) equations if they hold in one inertial frame, then they hold in any inertial frame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f5a86f13a_2_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f5a86f13a_2_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(Feynman’s Book) In classical limit, when the size time and mass are very large, the action will be very large compared to the Planck constant and the resulting ratio S/h becomes a very large number.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a very tiny change in the path will result in a dramatic change in the phase and they will cancel out eventually. Only the classical path (minimal action path) 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af5a86f13a_2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af5a86f13a_2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wavefunction we are familiar with assumes perfect knowledge of the system (Zero Temperature, isolated vacuum). But in real world system, we have a statistical mixture of many possible wavefunctions and we need an operator that combines Quantum Probability (superposition) with Classical Probability (temperature/ignorance). That operator is the Density Matrix.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f5a86f13a_2_3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f5a86f13a_2_3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af5a86f13a_2_1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af5a86f13a_2_1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af5a86f13a_2_3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af5a86f13a_2_3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af5a86f13a_2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af5a86f13a_2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you compute a correlation function $C(\tau)$ in imaginary time (which PIMD does perfectly), you theoretically know everything. But to get the real-world spectrum $C(t)$, you have to perform an Inverse Laplace Transform, which is poorly extremely ill-posed problem numerically because analytic continuation of imaginary-time data to real-time data is such an immense challenge.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f5a86f13a_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3af5a86f13a_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f5a86f13a_2_1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f5a86f13a_2_1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 type="title">
  <p:cSld name="TITLE">
    <p:bg>
      <p:bgPr>
        <a:solidFill>
          <a:srgbClr val="220337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7363" y="427947"/>
            <a:ext cx="1049175" cy="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72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body" idx="1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lvl="1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marL="1371600" lvl="2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marL="1828800" lvl="3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marL="2286000" lvl="4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marL="2743200" lvl="5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marL="3200400" lvl="6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●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marL="3657600" lvl="7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○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marL="4114800" lvl="8" indent="-29210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Montserrat SemiBold"/>
              <a:buChar char="■"/>
              <a:defRPr sz="1000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2496200" y="2791614"/>
            <a:ext cx="4151400" cy="7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500">
                <a:solidFill>
                  <a:schemeClr val="accent2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>
                <a:solidFill>
                  <a:schemeClr val="accent2"/>
                </a:solidFill>
              </a:defRPr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506000" y="1385509"/>
            <a:ext cx="6131700" cy="16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2462575" y="2959018"/>
            <a:ext cx="4218600" cy="73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587970"/>
            <a:ext cx="4945500" cy="11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4800"/>
              <a:buNone/>
              <a:defRPr sz="48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311700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619925" y="2467949"/>
            <a:ext cx="3999900" cy="180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lnSpc>
                <a:spcPct val="125000"/>
              </a:lnSpc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lnSpc>
                <a:spcPct val="125000"/>
              </a:lnSpc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pic>
        <p:nvPicPr>
          <p:cNvPr id="34" name="Google Shape;34;p6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Google Shape;36;p6"/>
          <p:cNvSpPr txBox="1">
            <a:spLocks noGrp="1"/>
          </p:cNvSpPr>
          <p:nvPr>
            <p:ph type="subTitle" idx="3"/>
          </p:nvPr>
        </p:nvSpPr>
        <p:spPr>
          <a:xfrm>
            <a:off x="311700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ubTitle" idx="4"/>
          </p:nvPr>
        </p:nvSpPr>
        <p:spPr>
          <a:xfrm>
            <a:off x="4619925" y="205462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dk1"/>
                </a:solidFill>
              </a:defRPr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pic>
        <p:nvPicPr>
          <p:cNvPr id="38" name="Google Shape;38;p6"/>
          <p:cNvPicPr preferRelativeResize="0"/>
          <p:nvPr/>
        </p:nvPicPr>
        <p:blipFill rotWithShape="1">
          <a:blip r:embed="rId3">
            <a:alphaModFix/>
          </a:blip>
          <a:srcRect t="29770"/>
          <a:stretch/>
        </p:blipFill>
        <p:spPr>
          <a:xfrm>
            <a:off x="0" y="1"/>
            <a:ext cx="9144003" cy="263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0" descr=" 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title"/>
          </p:nvPr>
        </p:nvSpPr>
        <p:spPr>
          <a:xfrm>
            <a:off x="294375" y="1233175"/>
            <a:ext cx="40791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None/>
              <a:defRPr sz="3600">
                <a:solidFill>
                  <a:srgbClr val="57068C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subTitle" idx="1"/>
          </p:nvPr>
        </p:nvSpPr>
        <p:spPr>
          <a:xfrm>
            <a:off x="294375" y="2803075"/>
            <a:ext cx="3616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6ABA"/>
              </a:buClr>
              <a:buSzPts val="1800"/>
              <a:buNone/>
              <a:defRPr>
                <a:solidFill>
                  <a:srgbClr val="9A6ABA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551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60" name="Google Shape;60;p10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0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CUSTOM_3">
    <p:bg>
      <p:bgPr>
        <a:solidFill>
          <a:schemeClr val="lt2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-62802" y="-34225"/>
            <a:ext cx="9269596" cy="5180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6" descr=" 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6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592275" y="522825"/>
            <a:ext cx="8144400" cy="375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with folio" type="blank">
  <p:cSld name="BLANK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7" descr=" 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07175" y="4539121"/>
            <a:ext cx="776077" cy="26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7"/>
          <p:cNvSpPr txBox="1"/>
          <p:nvPr/>
        </p:nvSpPr>
        <p:spPr>
          <a:xfrm>
            <a:off x="4619925" y="4517225"/>
            <a:ext cx="4192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 b="1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rPr>
              <a:t>‹#›</a:t>
            </a:fld>
            <a:endParaRPr sz="700" b="1">
              <a:solidFill>
                <a:schemeClr val="accent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1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68825"/>
            <a:ext cx="8424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3600"/>
              <a:buFont typeface="Frank Ruhl Libre"/>
              <a:buNone/>
              <a:defRPr sz="3600" b="1">
                <a:solidFill>
                  <a:srgbClr val="57068C"/>
                </a:solidFill>
                <a:latin typeface="Frank Ruhl Libre"/>
                <a:ea typeface="Frank Ruhl Libre"/>
                <a:cs typeface="Frank Ruhl Libre"/>
                <a:sym typeface="Frank Ruhl Libr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424900" cy="31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Char char="●"/>
              <a:defRPr sz="18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●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Char char="○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Char char="■"/>
              <a:defRPr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2" r:id="rId3"/>
    <p:sldLayoutId id="2147483656" r:id="rId4"/>
    <p:sldLayoutId id="2147483662" r:id="rId5"/>
    <p:sldLayoutId id="2147483663" r:id="rId6"/>
    <p:sldLayoutId id="214748366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56">
          <p15:clr>
            <a:srgbClr val="EA4335"/>
          </p15:clr>
        </p15:guide>
        <p15:guide id="2" orient="horz" pos="3025">
          <p15:clr>
            <a:srgbClr val="EA4335"/>
          </p15:clr>
        </p15:guide>
        <p15:guide id="3" pos="5503">
          <p15:clr>
            <a:srgbClr val="EA4335"/>
          </p15:clr>
        </p15:guide>
        <p15:guide id="4" orient="horz" pos="2693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gif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>
            <a:spLocks noGrp="1"/>
          </p:cNvSpPr>
          <p:nvPr>
            <p:ph type="title"/>
          </p:nvPr>
        </p:nvSpPr>
        <p:spPr>
          <a:xfrm>
            <a:off x="904850" y="1253682"/>
            <a:ext cx="7333800" cy="15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/>
              <a:t>Path Integral Formulation</a:t>
            </a:r>
            <a:endParaRPr sz="470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 i="1"/>
              <a:t>E</a:t>
            </a:r>
            <a:r>
              <a:rPr lang="en" sz="2900" i="1"/>
              <a:t>verything, everywhere, all at once</a:t>
            </a:r>
            <a:endParaRPr sz="2900" i="1"/>
          </a:p>
        </p:txBody>
      </p:sp>
      <p:sp>
        <p:nvSpPr>
          <p:cNvPr id="111" name="Google Shape;111;p19"/>
          <p:cNvSpPr txBox="1">
            <a:spLocks noGrp="1"/>
          </p:cNvSpPr>
          <p:nvPr>
            <p:ph type="body" idx="1"/>
          </p:nvPr>
        </p:nvSpPr>
        <p:spPr>
          <a:xfrm>
            <a:off x="2496200" y="4275729"/>
            <a:ext cx="4151400" cy="30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2025.12.11</a:t>
            </a:r>
            <a:endParaRPr sz="1200"/>
          </a:p>
        </p:txBody>
      </p:sp>
      <p:sp>
        <p:nvSpPr>
          <p:cNvPr id="112" name="Google Shape;112;p19"/>
          <p:cNvSpPr txBox="1">
            <a:spLocks noGrp="1"/>
          </p:cNvSpPr>
          <p:nvPr>
            <p:ph type="subTitle" idx="2"/>
          </p:nvPr>
        </p:nvSpPr>
        <p:spPr>
          <a:xfrm>
            <a:off x="2496200" y="2791623"/>
            <a:ext cx="4151400" cy="14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CHEM-GA 2665 Quantum Mechanics</a:t>
            </a:r>
            <a:endParaRPr sz="1600"/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/>
              <a:t>Pitch Presentation</a:t>
            </a:r>
            <a:endParaRPr sz="1600"/>
          </a:p>
          <a:p>
            <a:pPr marL="0" lvl="0" indent="0" algn="ctr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600"/>
              <a:t>Yuchen Shi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8375" y="1152200"/>
            <a:ext cx="3524150" cy="3108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0"/>
          <p:cNvSpPr txBox="1">
            <a:spLocks noGrp="1"/>
          </p:cNvSpPr>
          <p:nvPr>
            <p:ph type="title"/>
          </p:nvPr>
        </p:nvSpPr>
        <p:spPr>
          <a:xfrm>
            <a:off x="311699" y="561150"/>
            <a:ext cx="5465645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Revisit the Double-slit</a:t>
            </a:r>
            <a:endParaRPr sz="3600" dirty="0"/>
          </a:p>
        </p:txBody>
      </p:sp>
      <p:sp>
        <p:nvSpPr>
          <p:cNvPr id="119" name="Google Shape;119;p20"/>
          <p:cNvSpPr txBox="1">
            <a:spLocks noGrp="1"/>
          </p:cNvSpPr>
          <p:nvPr>
            <p:ph type="body" idx="1"/>
          </p:nvPr>
        </p:nvSpPr>
        <p:spPr>
          <a:xfrm>
            <a:off x="338975" y="1874975"/>
            <a:ext cx="4260300" cy="80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Double-slit experiment proved the wave-like property of particle and guided the development of quantum mechanics.</a:t>
            </a:r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3"/>
          </p:nvPr>
        </p:nvSpPr>
        <p:spPr>
          <a:xfrm>
            <a:off x="311700" y="1131149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Understand the Nature of Path Integral</a:t>
            </a:r>
            <a:endParaRPr/>
          </a:p>
        </p:txBody>
      </p:sp>
      <p:sp>
        <p:nvSpPr>
          <p:cNvPr id="121" name="Google Shape;121;p20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1   Motivation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2" name="Google Shape;122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4300" y="1131150"/>
            <a:ext cx="3612299" cy="31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0"/>
          <p:cNvSpPr txBox="1"/>
          <p:nvPr/>
        </p:nvSpPr>
        <p:spPr>
          <a:xfrm>
            <a:off x="5380475" y="4275725"/>
            <a:ext cx="3188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Fig.1 Double-slit Experiment and Beyond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24" name="Google Shape;124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12450" y="1131150"/>
            <a:ext cx="3524149" cy="315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0"/>
          <p:cNvSpPr txBox="1">
            <a:spLocks noGrp="1"/>
          </p:cNvSpPr>
          <p:nvPr>
            <p:ph type="subTitle" idx="3"/>
          </p:nvPr>
        </p:nvSpPr>
        <p:spPr>
          <a:xfrm>
            <a:off x="311700" y="1542761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Classical V.S. Quantum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6" name="Google Shape;126;p20"/>
          <p:cNvSpPr txBox="1">
            <a:spLocks noGrp="1"/>
          </p:cNvSpPr>
          <p:nvPr>
            <p:ph type="subTitle" idx="3"/>
          </p:nvPr>
        </p:nvSpPr>
        <p:spPr>
          <a:xfrm>
            <a:off x="325325" y="2682661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Infinitely-many Gratings and Slits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27" name="Google Shape;127;p20"/>
          <p:cNvSpPr txBox="1">
            <a:spLocks noGrp="1"/>
          </p:cNvSpPr>
          <p:nvPr>
            <p:ph type="subTitle" idx="3"/>
          </p:nvPr>
        </p:nvSpPr>
        <p:spPr>
          <a:xfrm>
            <a:off x="5206925" y="4598150"/>
            <a:ext cx="353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 b="0"/>
              <a:t>Tuckerman, Mark E. Statistical mechanics: theory and molecular simulation. Oxford university press, 2023.</a:t>
            </a:r>
            <a:endParaRPr sz="900" b="0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352600" y="3094250"/>
            <a:ext cx="4260300" cy="10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If we put infinitely many gratings with </a:t>
            </a:r>
            <a:r>
              <a:rPr lang="en">
                <a:solidFill>
                  <a:schemeClr val="dk2"/>
                </a:solidFill>
              </a:rPr>
              <a:t>infinitely many slits in space, it’s just empty space!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&gt;&gt; It’s possible to rethink Quantum Mechanics as a lot of </a:t>
            </a:r>
            <a:r>
              <a:rPr lang="en" b="1">
                <a:solidFill>
                  <a:schemeClr val="dk2"/>
                </a:solidFill>
              </a:rPr>
              <a:t>paths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311700" y="561150"/>
            <a:ext cx="75288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Why do we need path integral?</a:t>
            </a:r>
            <a:endParaRPr sz="3600"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>
            <a:off x="311700" y="1747301"/>
            <a:ext cx="39999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Time-evolving Wavefunction + Static Operator</a:t>
            </a:r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2"/>
          </p:nvPr>
        </p:nvSpPr>
        <p:spPr>
          <a:xfrm>
            <a:off x="4619925" y="1455775"/>
            <a:ext cx="3999900" cy="290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Rely on operators  &gt;&gt; hard to transit from classical theory to quantum theory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Rely on Hamiltonian &gt;&gt; require canonical coordinates and momentum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Can we use idea in the sibling of Hamiltonian mechanics, </a:t>
            </a:r>
            <a:r>
              <a:rPr lang="en" b="1"/>
              <a:t>Lagrangian mechanics</a:t>
            </a:r>
            <a:r>
              <a:rPr lang="en"/>
              <a:t>, to fill the gap?</a:t>
            </a:r>
            <a:endParaRPr/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Reply on functions &gt;&gt; consistency and transferability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Rely on action, as a scalar &gt;&gt; symmetry preserved and allow for relativity</a:t>
            </a:r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3"/>
          </p:nvPr>
        </p:nvSpPr>
        <p:spPr>
          <a:xfrm>
            <a:off x="311700" y="1131149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Different Pictures of QM</a:t>
            </a:r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4"/>
          </p:nvPr>
        </p:nvSpPr>
        <p:spPr>
          <a:xfrm>
            <a:off x="4619925" y="1131150"/>
            <a:ext cx="45240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Intricity of Hamiltonian-based Formulation</a:t>
            </a:r>
            <a:endParaRPr/>
          </a:p>
        </p:txBody>
      </p:sp>
      <p:sp>
        <p:nvSpPr>
          <p:cNvPr id="138" name="Google Shape;138;p21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1   Motivation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3"/>
          </p:nvPr>
        </p:nvSpPr>
        <p:spPr>
          <a:xfrm>
            <a:off x="311700" y="1449511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(1) Schrödinger Picture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0" name="Google Shape;140;p21"/>
          <p:cNvSpPr txBox="1">
            <a:spLocks noGrp="1"/>
          </p:cNvSpPr>
          <p:nvPr>
            <p:ph type="body" idx="1"/>
          </p:nvPr>
        </p:nvSpPr>
        <p:spPr>
          <a:xfrm>
            <a:off x="311700" y="2739611"/>
            <a:ext cx="39999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Static Wavefunction + Time-evolving Operator</a:t>
            </a:r>
            <a:endParaRPr/>
          </a:p>
        </p:txBody>
      </p:sp>
      <p:sp>
        <p:nvSpPr>
          <p:cNvPr id="141" name="Google Shape;141;p21"/>
          <p:cNvSpPr txBox="1">
            <a:spLocks noGrp="1"/>
          </p:cNvSpPr>
          <p:nvPr>
            <p:ph type="subTitle" idx="3"/>
          </p:nvPr>
        </p:nvSpPr>
        <p:spPr>
          <a:xfrm>
            <a:off x="311700" y="2441821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(2) Heisenberg Picture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42" name="Google Shape;142;p21"/>
          <p:cNvSpPr txBox="1">
            <a:spLocks noGrp="1"/>
          </p:cNvSpPr>
          <p:nvPr>
            <p:ph type="body" idx="1"/>
          </p:nvPr>
        </p:nvSpPr>
        <p:spPr>
          <a:xfrm>
            <a:off x="311700" y="3681560"/>
            <a:ext cx="44709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Time-evolving Wavefunction + Time-evolving Operator</a:t>
            </a:r>
            <a:endParaRPr/>
          </a:p>
        </p:txBody>
      </p:sp>
      <p:sp>
        <p:nvSpPr>
          <p:cNvPr id="143" name="Google Shape;143;p21"/>
          <p:cNvSpPr txBox="1">
            <a:spLocks noGrp="1"/>
          </p:cNvSpPr>
          <p:nvPr>
            <p:ph type="subTitle" idx="3"/>
          </p:nvPr>
        </p:nvSpPr>
        <p:spPr>
          <a:xfrm>
            <a:off x="311700" y="3434121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b="0">
                <a:latin typeface="Montserrat Medium"/>
                <a:ea typeface="Montserrat Medium"/>
                <a:cs typeface="Montserrat Medium"/>
                <a:sym typeface="Montserrat Medium"/>
              </a:rPr>
              <a:t>(3) Interaction Picture</a:t>
            </a:r>
            <a:endParaRPr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4" name="Google Shape;14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7175" y="3210585"/>
            <a:ext cx="3330694" cy="3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75" y="2209010"/>
            <a:ext cx="1742566" cy="3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8738" y="4212160"/>
            <a:ext cx="1742575" cy="264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43687" y="4214899"/>
            <a:ext cx="2349875" cy="26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1"/>
          <p:cNvSpPr txBox="1">
            <a:spLocks noGrp="1"/>
          </p:cNvSpPr>
          <p:nvPr>
            <p:ph type="body" idx="1"/>
          </p:nvPr>
        </p:nvSpPr>
        <p:spPr>
          <a:xfrm>
            <a:off x="314701" y="1955725"/>
            <a:ext cx="43929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Application: Steady state property (e.g. energy spectra)</a:t>
            </a:r>
            <a:endParaRPr/>
          </a:p>
        </p:txBody>
      </p:sp>
      <p:sp>
        <p:nvSpPr>
          <p:cNvPr id="149" name="Google Shape;149;p21"/>
          <p:cNvSpPr txBox="1">
            <a:spLocks noGrp="1"/>
          </p:cNvSpPr>
          <p:nvPr>
            <p:ph type="body" idx="1"/>
          </p:nvPr>
        </p:nvSpPr>
        <p:spPr>
          <a:xfrm>
            <a:off x="311701" y="2945275"/>
            <a:ext cx="43461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Application: Dynamic property (e.g. position evolution)</a:t>
            </a:r>
            <a:endParaRPr/>
          </a:p>
        </p:txBody>
      </p:sp>
      <p:sp>
        <p:nvSpPr>
          <p:cNvPr id="150" name="Google Shape;150;p21"/>
          <p:cNvSpPr txBox="1">
            <a:spLocks noGrp="1"/>
          </p:cNvSpPr>
          <p:nvPr>
            <p:ph type="body" idx="1"/>
          </p:nvPr>
        </p:nvSpPr>
        <p:spPr>
          <a:xfrm>
            <a:off x="311700" y="3903100"/>
            <a:ext cx="46014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Application: Time-dependent perturbation </a:t>
            </a:r>
            <a:endParaRPr/>
          </a:p>
        </p:txBody>
      </p:sp>
      <p:sp>
        <p:nvSpPr>
          <p:cNvPr id="151" name="Google Shape;151;p21"/>
          <p:cNvSpPr txBox="1">
            <a:spLocks noGrp="1"/>
          </p:cNvSpPr>
          <p:nvPr>
            <p:ph type="subTitle" idx="3"/>
          </p:nvPr>
        </p:nvSpPr>
        <p:spPr>
          <a:xfrm>
            <a:off x="1247400" y="4573475"/>
            <a:ext cx="353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 b="0"/>
              <a:t>Tuckerman, Mark E. Statistical mechanics: theory and molecular simulation. Oxford university press, 2023.</a:t>
            </a:r>
            <a:endParaRPr sz="900" b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2"/>
          <p:cNvSpPr txBox="1">
            <a:spLocks noGrp="1"/>
          </p:cNvSpPr>
          <p:nvPr>
            <p:ph type="title"/>
          </p:nvPr>
        </p:nvSpPr>
        <p:spPr>
          <a:xfrm>
            <a:off x="311699" y="561150"/>
            <a:ext cx="6574009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Path Integral Formulation </a:t>
            </a:r>
            <a:endParaRPr sz="3600" dirty="0"/>
          </a:p>
        </p:txBody>
      </p:sp>
      <p:sp>
        <p:nvSpPr>
          <p:cNvPr id="157" name="Google Shape;157;p22"/>
          <p:cNvSpPr txBox="1">
            <a:spLocks noGrp="1"/>
          </p:cNvSpPr>
          <p:nvPr>
            <p:ph type="body" idx="1"/>
          </p:nvPr>
        </p:nvSpPr>
        <p:spPr>
          <a:xfrm>
            <a:off x="311700" y="1544475"/>
            <a:ext cx="4634700" cy="119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Wavefunction as probability amplitude 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&gt;&gt; Weighted sum of all possible paths </a:t>
            </a:r>
            <a:r>
              <a:rPr lang="en">
                <a:solidFill>
                  <a:schemeClr val="dk2"/>
                </a:solidFill>
              </a:rPr>
              <a:t>for probability amplitude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Even better, it can retrieve classical path in classical limit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58" name="Google Shape;158;p22"/>
          <p:cNvSpPr txBox="1">
            <a:spLocks noGrp="1"/>
          </p:cNvSpPr>
          <p:nvPr>
            <p:ph type="subTitle" idx="3"/>
          </p:nvPr>
        </p:nvSpPr>
        <p:spPr>
          <a:xfrm>
            <a:off x="311700" y="1131149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QM as Sum of All Possible Paths</a:t>
            </a:r>
            <a:endParaRPr/>
          </a:p>
        </p:txBody>
      </p:sp>
      <p:sp>
        <p:nvSpPr>
          <p:cNvPr id="159" name="Google Shape;159;p22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2   Introduction to Path Integral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22"/>
          <p:cNvSpPr txBox="1"/>
          <p:nvPr/>
        </p:nvSpPr>
        <p:spPr>
          <a:xfrm>
            <a:off x="5380487" y="2294775"/>
            <a:ext cx="31881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Fig.2 The Brachistochrone Curve Problem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1" name="Google Shape;161;p22" title="Brachistochrone.gi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00738" y="1131153"/>
            <a:ext cx="2947575" cy="122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/>
          <p:nvPr/>
        </p:nvSpPr>
        <p:spPr>
          <a:xfrm>
            <a:off x="5380475" y="4614550"/>
            <a:ext cx="31881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Fig.3 Classical Limit of Path Integral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63" name="Google Shape;163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763" y="3639646"/>
            <a:ext cx="2683171" cy="57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2"/>
          <p:cNvSpPr txBox="1">
            <a:spLocks noGrp="1"/>
          </p:cNvSpPr>
          <p:nvPr>
            <p:ph type="subTitle" idx="3"/>
          </p:nvPr>
        </p:nvSpPr>
        <p:spPr>
          <a:xfrm>
            <a:off x="1314825" y="4661175"/>
            <a:ext cx="353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800" b="0"/>
              <a:t>Feynman, R. P., and AR Hibbs Quantum Mechanics. "Path integrals." Lecture Notes Phys 106 (1979): 64.</a:t>
            </a:r>
            <a:endParaRPr sz="800" b="0"/>
          </a:p>
        </p:txBody>
      </p:sp>
      <p:pic>
        <p:nvPicPr>
          <p:cNvPr id="165" name="Google Shape;165;p22"/>
          <p:cNvPicPr preferRelativeResize="0"/>
          <p:nvPr/>
        </p:nvPicPr>
        <p:blipFill rotWithShape="1">
          <a:blip r:embed="rId5">
            <a:alphaModFix/>
          </a:blip>
          <a:srcRect t="11808"/>
          <a:stretch/>
        </p:blipFill>
        <p:spPr>
          <a:xfrm>
            <a:off x="1168463" y="3452242"/>
            <a:ext cx="1899800" cy="27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0863" y="4179111"/>
            <a:ext cx="2614975" cy="36785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62937" y="2699367"/>
            <a:ext cx="2110853" cy="4581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2"/>
          <p:cNvCxnSpPr>
            <a:stCxn id="165" idx="0"/>
            <a:endCxn id="167" idx="2"/>
          </p:cNvCxnSpPr>
          <p:nvPr/>
        </p:nvCxnSpPr>
        <p:spPr>
          <a:xfrm rot="10800000">
            <a:off x="2118362" y="3157342"/>
            <a:ext cx="0" cy="29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69" name="Google Shape;169;p22"/>
          <p:cNvCxnSpPr>
            <a:stCxn id="167" idx="2"/>
            <a:endCxn id="165" idx="0"/>
          </p:cNvCxnSpPr>
          <p:nvPr/>
        </p:nvCxnSpPr>
        <p:spPr>
          <a:xfrm>
            <a:off x="2118364" y="3157467"/>
            <a:ext cx="0" cy="294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170" name="Google Shape;170;p2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86178" y="2571675"/>
            <a:ext cx="2339773" cy="2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506600" y="4046675"/>
            <a:ext cx="1579858" cy="4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2"/>
          <p:cNvSpPr txBox="1">
            <a:spLocks noGrp="1"/>
          </p:cNvSpPr>
          <p:nvPr>
            <p:ph type="body" idx="1"/>
          </p:nvPr>
        </p:nvSpPr>
        <p:spPr>
          <a:xfrm>
            <a:off x="3506600" y="3796125"/>
            <a:ext cx="2526300" cy="3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800"/>
              <a:t>Classical (Euler-Lagrangian):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73" name="Google Shape;173;p22"/>
          <p:cNvSpPr txBox="1">
            <a:spLocks noGrp="1"/>
          </p:cNvSpPr>
          <p:nvPr>
            <p:ph type="body" idx="1"/>
          </p:nvPr>
        </p:nvSpPr>
        <p:spPr>
          <a:xfrm>
            <a:off x="1314825" y="4485775"/>
            <a:ext cx="2526300" cy="33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800"/>
              <a:t>h_bar=6.626×10</a:t>
            </a:r>
            <a:r>
              <a:rPr lang="en" sz="800" baseline="30000"/>
              <a:t>−34</a:t>
            </a:r>
            <a:r>
              <a:rPr lang="en" sz="800"/>
              <a:t> J⋅s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5850" y="561140"/>
            <a:ext cx="2343101" cy="194766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311699" y="561150"/>
            <a:ext cx="5812009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Path Integral Formulation </a:t>
            </a:r>
            <a:endParaRPr sz="3600" dirty="0"/>
          </a:p>
        </p:txBody>
      </p:sp>
      <p:sp>
        <p:nvSpPr>
          <p:cNvPr id="180" name="Google Shape;180;p23"/>
          <p:cNvSpPr txBox="1">
            <a:spLocks noGrp="1"/>
          </p:cNvSpPr>
          <p:nvPr>
            <p:ph type="body" idx="1"/>
          </p:nvPr>
        </p:nvSpPr>
        <p:spPr>
          <a:xfrm>
            <a:off x="311700" y="2106225"/>
            <a:ext cx="4583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Interesting Relationship in between</a:t>
            </a:r>
            <a:endParaRPr/>
          </a:p>
        </p:txBody>
      </p:sp>
      <p:sp>
        <p:nvSpPr>
          <p:cNvPr id="181" name="Google Shape;181;p23"/>
          <p:cNvSpPr txBox="1">
            <a:spLocks noGrp="1"/>
          </p:cNvSpPr>
          <p:nvPr>
            <p:ph type="subTitle" idx="3"/>
          </p:nvPr>
        </p:nvSpPr>
        <p:spPr>
          <a:xfrm>
            <a:off x="311700" y="1131149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Wick Rotation &amp; Imaginary Time</a:t>
            </a:r>
            <a:endParaRPr/>
          </a:p>
        </p:txBody>
      </p:sp>
      <p:sp>
        <p:nvSpPr>
          <p:cNvPr id="182" name="Google Shape;182;p23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2   Introduction to Path Integral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4842498" y="2492800"/>
            <a:ext cx="35898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Fig.4 Wick Rotation on Complex  Time Plane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4842500" y="4614550"/>
            <a:ext cx="3404700" cy="5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Fig.5 Imaginary and Real Time Propagation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p23"/>
          <p:cNvSpPr txBox="1">
            <a:spLocks noGrp="1"/>
          </p:cNvSpPr>
          <p:nvPr>
            <p:ph type="subTitle" idx="3"/>
          </p:nvPr>
        </p:nvSpPr>
        <p:spPr>
          <a:xfrm>
            <a:off x="1264625" y="4573475"/>
            <a:ext cx="353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 b="0"/>
              <a:t>Tuckerman, Mark E. Statistical mechanics: theory and molecular simulation. Oxford university press, 2023.</a:t>
            </a:r>
            <a:endParaRPr sz="900" b="0"/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95250" y="2800000"/>
            <a:ext cx="3299175" cy="190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99835" y="2018387"/>
            <a:ext cx="953325" cy="225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 rotWithShape="1">
          <a:blip r:embed="rId6">
            <a:alphaModFix/>
          </a:blip>
          <a:srcRect l="63967"/>
          <a:stretch/>
        </p:blipFill>
        <p:spPr>
          <a:xfrm>
            <a:off x="2089239" y="2477125"/>
            <a:ext cx="1280263" cy="30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3"/>
          <p:cNvPicPr preferRelativeResize="0"/>
          <p:nvPr/>
        </p:nvPicPr>
        <p:blipFill rotWithShape="1">
          <a:blip r:embed="rId6">
            <a:alphaModFix/>
          </a:blip>
          <a:srcRect r="59586"/>
          <a:stretch/>
        </p:blipFill>
        <p:spPr>
          <a:xfrm>
            <a:off x="338975" y="2477125"/>
            <a:ext cx="1435916" cy="30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3"/>
          <p:cNvSpPr txBox="1">
            <a:spLocks noGrp="1"/>
          </p:cNvSpPr>
          <p:nvPr>
            <p:ph type="body" idx="1"/>
          </p:nvPr>
        </p:nvSpPr>
        <p:spPr>
          <a:xfrm>
            <a:off x="311700" y="1516425"/>
            <a:ext cx="38874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Density Matrix and the Propagator</a:t>
            </a:r>
            <a:endParaRPr/>
          </a:p>
        </p:txBody>
      </p:sp>
      <p:pic>
        <p:nvPicPr>
          <p:cNvPr id="191" name="Google Shape;191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07175" y="1836425"/>
            <a:ext cx="1628145" cy="3071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073535" y="1855064"/>
            <a:ext cx="1976990" cy="2699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6863" y="3032075"/>
            <a:ext cx="3777075" cy="916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3"/>
          <p:cNvSpPr txBox="1">
            <a:spLocks noGrp="1"/>
          </p:cNvSpPr>
          <p:nvPr>
            <p:ph type="body" idx="1"/>
          </p:nvPr>
        </p:nvSpPr>
        <p:spPr>
          <a:xfrm>
            <a:off x="311700" y="2749725"/>
            <a:ext cx="45837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/>
              <a:t>Propagator (real time) in Path Integral Formulation</a:t>
            </a:r>
            <a:endParaRPr/>
          </a:p>
        </p:txBody>
      </p:sp>
      <p:pic>
        <p:nvPicPr>
          <p:cNvPr id="195" name="Google Shape;195;p2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407173" y="4014250"/>
            <a:ext cx="2052999" cy="362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6" name="Google Shape;196;p23"/>
          <p:cNvGrpSpPr/>
          <p:nvPr/>
        </p:nvGrpSpPr>
        <p:grpSpPr>
          <a:xfrm>
            <a:off x="2612573" y="4035094"/>
            <a:ext cx="1839752" cy="385981"/>
            <a:chOff x="2612573" y="4035094"/>
            <a:chExt cx="1839752" cy="385981"/>
          </a:xfrm>
        </p:grpSpPr>
        <p:pic>
          <p:nvPicPr>
            <p:cNvPr id="197" name="Google Shape;197;p23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2612573" y="4101125"/>
              <a:ext cx="886419" cy="3199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3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99000" y="4035094"/>
              <a:ext cx="953325" cy="38598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9" name="Google Shape;199;p23"/>
          <p:cNvSpPr txBox="1">
            <a:spLocks noGrp="1"/>
          </p:cNvSpPr>
          <p:nvPr>
            <p:ph type="body" idx="1"/>
          </p:nvPr>
        </p:nvSpPr>
        <p:spPr>
          <a:xfrm>
            <a:off x="2126350" y="4324989"/>
            <a:ext cx="2812200" cy="3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 b="1" i="1"/>
              <a:t>Dynamical sign problem resolved</a:t>
            </a:r>
            <a:endParaRPr sz="11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4"/>
          <p:cNvSpPr txBox="1">
            <a:spLocks noGrp="1"/>
          </p:cNvSpPr>
          <p:nvPr>
            <p:ph type="title"/>
          </p:nvPr>
        </p:nvSpPr>
        <p:spPr>
          <a:xfrm>
            <a:off x="311700" y="561150"/>
            <a:ext cx="82569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Path Integral Molecular Dynamics</a:t>
            </a:r>
            <a:endParaRPr sz="3600"/>
          </a:p>
        </p:txBody>
      </p:sp>
      <p:sp>
        <p:nvSpPr>
          <p:cNvPr id="205" name="Google Shape;205;p24"/>
          <p:cNvSpPr txBox="1">
            <a:spLocks noGrp="1"/>
          </p:cNvSpPr>
          <p:nvPr>
            <p:ph type="body" idx="1"/>
          </p:nvPr>
        </p:nvSpPr>
        <p:spPr>
          <a:xfrm>
            <a:off x="311700" y="1544475"/>
            <a:ext cx="5413200" cy="22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can actually simulate quantum mechanics with </a:t>
            </a:r>
            <a:r>
              <a:rPr lang="en" b="1"/>
              <a:t>classical mechanics </a:t>
            </a:r>
            <a:r>
              <a:rPr lang="en"/>
              <a:t>only!</a:t>
            </a:r>
            <a:endParaRPr/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"/>
              <a:t>Imaginary-time density matrix &lt;-slicing-&gt; Classical ring-polymer</a:t>
            </a:r>
            <a:endParaRPr/>
          </a:p>
          <a:p>
            <a:pPr marL="457200" lvl="0" indent="-304800" algn="l" rtl="0">
              <a:spcBef>
                <a:spcPts val="80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High temperature, large mass &gt;&gt; stiff spring (small ring, like a particle)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Low temperature, small mass &gt;&gt;</a:t>
            </a:r>
            <a:r>
              <a:rPr lang="en">
                <a:solidFill>
                  <a:schemeClr val="dk2"/>
                </a:solidFill>
              </a:rPr>
              <a:t>, loose spring (large ring, delocalization)</a:t>
            </a:r>
            <a:endParaRPr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800"/>
              </a:spcBef>
              <a:spcAft>
                <a:spcPts val="800"/>
              </a:spcAft>
              <a:buNone/>
            </a:pPr>
            <a:r>
              <a:rPr lang="en">
                <a:solidFill>
                  <a:schemeClr val="dk2"/>
                </a:solidFill>
              </a:rPr>
              <a:t>&gt;&gt; Allow for nuclear quantum effects, tunneling…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3"/>
          </p:nvPr>
        </p:nvSpPr>
        <p:spPr>
          <a:xfrm>
            <a:off x="311700" y="1131150"/>
            <a:ext cx="39999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Ring Polymer Isomorphism </a:t>
            </a:r>
            <a:endParaRPr/>
          </a:p>
        </p:txBody>
      </p:sp>
      <p:sp>
        <p:nvSpPr>
          <p:cNvPr id="207" name="Google Shape;207;p24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3   Application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24"/>
          <p:cNvSpPr txBox="1"/>
          <p:nvPr/>
        </p:nvSpPr>
        <p:spPr>
          <a:xfrm>
            <a:off x="5601425" y="4275725"/>
            <a:ext cx="3188100" cy="52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Fig.6 Classic Isomorphism (Ring-polymer) of the Imaginary-time Path Integral 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09" name="Google Shape;2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4563" y="1435950"/>
            <a:ext cx="3081834" cy="2839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950" y="3803175"/>
            <a:ext cx="3473488" cy="827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97450" y="4615722"/>
            <a:ext cx="3473500" cy="3736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0952" y="3803175"/>
            <a:ext cx="1313794" cy="25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>
            <a:spLocks noGrp="1"/>
          </p:cNvSpPr>
          <p:nvPr>
            <p:ph type="title"/>
          </p:nvPr>
        </p:nvSpPr>
        <p:spPr>
          <a:xfrm>
            <a:off x="311700" y="561150"/>
            <a:ext cx="55101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Proton Transfer in Water</a:t>
            </a:r>
            <a:endParaRPr sz="3600"/>
          </a:p>
        </p:txBody>
      </p:sp>
      <p:sp>
        <p:nvSpPr>
          <p:cNvPr id="218" name="Google Shape;218;p25"/>
          <p:cNvSpPr txBox="1">
            <a:spLocks noGrp="1"/>
          </p:cNvSpPr>
          <p:nvPr>
            <p:ph type="body" idx="1"/>
          </p:nvPr>
        </p:nvSpPr>
        <p:spPr>
          <a:xfrm>
            <a:off x="311700" y="1544475"/>
            <a:ext cx="4260300" cy="2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Anomalously </a:t>
            </a:r>
            <a:r>
              <a:rPr lang="en" b="1"/>
              <a:t>high mobilities</a:t>
            </a:r>
            <a:r>
              <a:rPr lang="en"/>
              <a:t> of protons (H</a:t>
            </a:r>
            <a:r>
              <a:rPr lang="en" baseline="30000"/>
              <a:t>+</a:t>
            </a:r>
            <a:r>
              <a:rPr lang="en"/>
              <a:t>) and hydroxide ions (OH</a:t>
            </a:r>
            <a:r>
              <a:rPr lang="en" baseline="30000"/>
              <a:t>-</a:t>
            </a:r>
            <a:r>
              <a:rPr lang="en"/>
              <a:t>) in aqueous solutions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Classical </a:t>
            </a:r>
            <a:r>
              <a:rPr lang="en"/>
              <a:t>theory </a:t>
            </a:r>
            <a:r>
              <a:rPr lang="en" b="1"/>
              <a:t>failed </a:t>
            </a:r>
            <a:r>
              <a:rPr lang="en"/>
              <a:t>to capture and explain this phenomenon</a:t>
            </a:r>
            <a:endParaRPr/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b="1"/>
              <a:t>Quantum </a:t>
            </a:r>
            <a:r>
              <a:rPr lang="en"/>
              <a:t>theory (path-integral) </a:t>
            </a:r>
            <a:r>
              <a:rPr lang="en" b="1"/>
              <a:t>explained</a:t>
            </a:r>
            <a:endParaRPr b="1"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Lowered energy barrier in proton transfer by nuclear quantum effects</a:t>
            </a:r>
            <a:endParaRPr/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Delocalization of hydrogen atoms</a:t>
            </a:r>
            <a:endParaRPr/>
          </a:p>
        </p:txBody>
      </p:sp>
      <p:sp>
        <p:nvSpPr>
          <p:cNvPr id="219" name="Google Shape;219;p25"/>
          <p:cNvSpPr txBox="1">
            <a:spLocks noGrp="1"/>
          </p:cNvSpPr>
          <p:nvPr>
            <p:ph type="subTitle" idx="3"/>
          </p:nvPr>
        </p:nvSpPr>
        <p:spPr>
          <a:xfrm>
            <a:off x="311700" y="1131150"/>
            <a:ext cx="27672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Zero-point Energy</a:t>
            </a:r>
            <a:endParaRPr/>
          </a:p>
        </p:txBody>
      </p:sp>
      <p:sp>
        <p:nvSpPr>
          <p:cNvPr id="220" name="Google Shape;220;p25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3   Application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5"/>
          <p:cNvSpPr txBox="1"/>
          <p:nvPr/>
        </p:nvSpPr>
        <p:spPr>
          <a:xfrm>
            <a:off x="5503950" y="2334275"/>
            <a:ext cx="31881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Fig.7 Representation of Relative Proton Positions (Left: quantum; Right: Classical)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22" name="Google Shape;22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39625" y="852925"/>
            <a:ext cx="2716751" cy="151685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>
            <a:spLocks noGrp="1"/>
          </p:cNvSpPr>
          <p:nvPr>
            <p:ph type="subTitle" idx="3"/>
          </p:nvPr>
        </p:nvSpPr>
        <p:spPr>
          <a:xfrm>
            <a:off x="5608800" y="350950"/>
            <a:ext cx="353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900" b="0"/>
              <a:t>Marx, Dominik, et al. "The nature of the hydrated excess proton in water." Nature 397.6720 (1999): 601-604.</a:t>
            </a:r>
            <a:endParaRPr sz="900" b="0"/>
          </a:p>
        </p:txBody>
      </p:sp>
      <p:pic>
        <p:nvPicPr>
          <p:cNvPr id="224" name="Google Shape;22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33577" y="3010125"/>
            <a:ext cx="4358474" cy="130755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5"/>
          <p:cNvSpPr txBox="1"/>
          <p:nvPr/>
        </p:nvSpPr>
        <p:spPr>
          <a:xfrm>
            <a:off x="5503950" y="4275725"/>
            <a:ext cx="31881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Fig.8 Structural Changes in Proton Transfer and Free Energy Landscape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25"/>
          <p:cNvSpPr txBox="1">
            <a:spLocks noGrp="1"/>
          </p:cNvSpPr>
          <p:nvPr>
            <p:ph type="subTitle" idx="3"/>
          </p:nvPr>
        </p:nvSpPr>
        <p:spPr>
          <a:xfrm>
            <a:off x="4821300" y="4685400"/>
            <a:ext cx="3985200" cy="45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700" b="0"/>
              <a:t>Tuckerman, Mark E., Dominik Marx, and Michele Parrinello. "The nature and transport mechanism of hydrated hydroxide ions in aqueous solution." Nature 417.6892 (2002): 925-929.</a:t>
            </a:r>
            <a:endParaRPr sz="700" b="0"/>
          </a:p>
        </p:txBody>
      </p:sp>
      <p:pic>
        <p:nvPicPr>
          <p:cNvPr id="227" name="Google Shape;227;p25"/>
          <p:cNvPicPr preferRelativeResize="0"/>
          <p:nvPr/>
        </p:nvPicPr>
        <p:blipFill rotWithShape="1">
          <a:blip r:embed="rId5">
            <a:alphaModFix/>
          </a:blip>
          <a:srcRect l="6270" t="14849" r="-6270" b="5955"/>
          <a:stretch/>
        </p:blipFill>
        <p:spPr>
          <a:xfrm>
            <a:off x="1683738" y="3464798"/>
            <a:ext cx="1516225" cy="138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847800" y="4776150"/>
            <a:ext cx="31881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Fig.9 Delocalization of Hydrogens</a:t>
            </a:r>
            <a:endParaRPr sz="11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>
            <a:spLocks noGrp="1"/>
          </p:cNvSpPr>
          <p:nvPr>
            <p:ph type="title"/>
          </p:nvPr>
        </p:nvSpPr>
        <p:spPr>
          <a:xfrm>
            <a:off x="311700" y="561150"/>
            <a:ext cx="68418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Reaction Rate and Mechanism</a:t>
            </a:r>
            <a:endParaRPr sz="3600"/>
          </a:p>
        </p:txBody>
      </p:sp>
      <p:sp>
        <p:nvSpPr>
          <p:cNvPr id="234" name="Google Shape;234;p26"/>
          <p:cNvSpPr txBox="1">
            <a:spLocks noGrp="1"/>
          </p:cNvSpPr>
          <p:nvPr>
            <p:ph type="body" idx="1"/>
          </p:nvPr>
        </p:nvSpPr>
        <p:spPr>
          <a:xfrm>
            <a:off x="338975" y="1542750"/>
            <a:ext cx="4716300" cy="273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 b="1" i="1"/>
              <a:t>Isocyanic acid</a:t>
            </a:r>
            <a:r>
              <a:rPr lang="en" sz="1300"/>
              <a:t> radical anion as a model system to study isomerization in because of its electronic structure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Tunneling allows for overcoming energy barriers that are forbidden classically</a:t>
            </a:r>
            <a:endParaRPr sz="1300"/>
          </a:p>
          <a:p>
            <a:pPr marL="457200" lvl="0" indent="-311150" algn="l" rtl="0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Tunneling effects become important in </a:t>
            </a:r>
            <a:r>
              <a:rPr lang="en" sz="1300" b="1"/>
              <a:t>heavy </a:t>
            </a:r>
            <a:r>
              <a:rPr lang="en" sz="1300"/>
              <a:t>atoms at </a:t>
            </a:r>
            <a:r>
              <a:rPr lang="en" sz="1300" b="1"/>
              <a:t>low </a:t>
            </a:r>
            <a:r>
              <a:rPr lang="en" sz="1300"/>
              <a:t>temperature (3K)</a:t>
            </a:r>
            <a:endParaRPr sz="1300"/>
          </a:p>
        </p:txBody>
      </p:sp>
      <p:sp>
        <p:nvSpPr>
          <p:cNvPr id="235" name="Google Shape;235;p26"/>
          <p:cNvSpPr txBox="1">
            <a:spLocks noGrp="1"/>
          </p:cNvSpPr>
          <p:nvPr>
            <p:ph type="subTitle" idx="3"/>
          </p:nvPr>
        </p:nvSpPr>
        <p:spPr>
          <a:xfrm>
            <a:off x="311700" y="1131150"/>
            <a:ext cx="3852000" cy="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Tunneling in Light &amp; Heavy Particles </a:t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3   Application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26"/>
          <p:cNvSpPr txBox="1"/>
          <p:nvPr/>
        </p:nvSpPr>
        <p:spPr>
          <a:xfrm>
            <a:off x="5291288" y="2377850"/>
            <a:ext cx="3188100" cy="5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Fig.10 Two Tunneling Pathways in </a:t>
            </a:r>
            <a:r>
              <a:rPr lang="en" sz="11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Isomerization </a:t>
            </a:r>
            <a:r>
              <a:rPr lang="en" sz="1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(Left: Hydrogen; Right: Carbon)</a:t>
            </a:r>
            <a:endParaRPr sz="1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28739" y="1131150"/>
            <a:ext cx="2652174" cy="124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82813" y="2869225"/>
            <a:ext cx="2744051" cy="183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6"/>
          <p:cNvSpPr txBox="1"/>
          <p:nvPr/>
        </p:nvSpPr>
        <p:spPr>
          <a:xfrm>
            <a:off x="5224638" y="4648925"/>
            <a:ext cx="32604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000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rPr>
              <a:t>Fig.11 Potential Energy Profiles of Two Pathways</a:t>
            </a:r>
            <a:endParaRPr sz="1000">
              <a:solidFill>
                <a:srgbClr val="33333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226;p25">
            <a:extLst>
              <a:ext uri="{FF2B5EF4-FFF2-40B4-BE49-F238E27FC236}">
                <a16:creationId xmlns:a16="http://schemas.microsoft.com/office/drawing/2014/main" id="{B21E7B18-29C2-26DE-DBD8-5C4830454115}"/>
              </a:ext>
            </a:extLst>
          </p:cNvPr>
          <p:cNvSpPr txBox="1">
            <a:spLocks/>
          </p:cNvSpPr>
          <p:nvPr/>
        </p:nvSpPr>
        <p:spPr>
          <a:xfrm>
            <a:off x="1239438" y="4470575"/>
            <a:ext cx="3985200" cy="4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7068C"/>
              </a:buClr>
              <a:buSzPts val="1800"/>
              <a:buFont typeface="Montserrat"/>
              <a:buNone/>
              <a:defRPr sz="14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57068C"/>
              </a:buClr>
              <a:buSzPts val="1400"/>
              <a:buFont typeface="Montserrat"/>
              <a:buNone/>
              <a:defRPr sz="1400" b="0" i="0" u="none" strike="noStrike" cap="none">
                <a:solidFill>
                  <a:srgbClr val="333333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marL="0" indent="0">
              <a:spcAft>
                <a:spcPts val="1600"/>
              </a:spcAft>
            </a:pPr>
            <a:r>
              <a:rPr lang="en-US" sz="700" b="0" dirty="0"/>
              <a:t>Tang, Jingjing, et al. "Competing quantum tunneling processes of heavy and light particles in isocyanic acid radical anions." Nature Communications 16.1 (2025): 10687.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7"/>
          <p:cNvSpPr txBox="1">
            <a:spLocks noGrp="1"/>
          </p:cNvSpPr>
          <p:nvPr>
            <p:ph type="title"/>
          </p:nvPr>
        </p:nvSpPr>
        <p:spPr>
          <a:xfrm>
            <a:off x="311700" y="561150"/>
            <a:ext cx="6474000" cy="57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Conclusion</a:t>
            </a:r>
            <a:endParaRPr sz="3600"/>
          </a:p>
        </p:txBody>
      </p:sp>
      <p:sp>
        <p:nvSpPr>
          <p:cNvPr id="246" name="Google Shape;246;p27"/>
          <p:cNvSpPr txBox="1">
            <a:spLocks noGrp="1"/>
          </p:cNvSpPr>
          <p:nvPr>
            <p:ph type="subTitle" idx="3"/>
          </p:nvPr>
        </p:nvSpPr>
        <p:spPr>
          <a:xfrm>
            <a:off x="311700" y="1131150"/>
            <a:ext cx="8424900" cy="338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●"/>
            </a:pPr>
            <a:r>
              <a:rPr lang="en" sz="1300" b="0">
                <a:latin typeface="Montserrat Medium"/>
                <a:ea typeface="Montserrat Medium"/>
                <a:cs typeface="Montserrat Medium"/>
                <a:sym typeface="Montserrat Medium"/>
              </a:rPr>
              <a:t>Path integral as an interesting formulation of quantum mechanics and powerful tool to compute quantum dynamics</a:t>
            </a:r>
            <a:endParaRPr sz="1300" b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●"/>
            </a:pPr>
            <a:r>
              <a:rPr lang="en" sz="1300" b="0">
                <a:latin typeface="Montserrat Medium"/>
                <a:ea typeface="Montserrat Medium"/>
                <a:cs typeface="Montserrat Medium"/>
                <a:sym typeface="Montserrat Medium"/>
              </a:rPr>
              <a:t>How far are we from exact quantum dynamics? </a:t>
            </a:r>
            <a:endParaRPr sz="1300" b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○"/>
            </a:pPr>
            <a:r>
              <a:rPr lang="en" sz="1300" b="1">
                <a:solidFill>
                  <a:schemeClr val="dk1"/>
                </a:solidFill>
              </a:rPr>
              <a:t>Imaginary Time 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v.s. </a:t>
            </a:r>
            <a:r>
              <a:rPr lang="en" sz="1300" b="1">
                <a:solidFill>
                  <a:schemeClr val="dk1"/>
                </a:solidFill>
              </a:rPr>
              <a:t>Real Time</a:t>
            </a: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Path integral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Are we satisfied with imaginary time? (ad hoc dynamics, , non-equilibrium…)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Is real-time path integral achievable? (dynamical sign, memory cost…)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●"/>
            </a:pPr>
            <a:r>
              <a:rPr lang="en" sz="1300" b="0">
                <a:latin typeface="Montserrat Medium"/>
                <a:ea typeface="Montserrat Medium"/>
                <a:cs typeface="Montserrat Medium"/>
                <a:sym typeface="Montserrat Medium"/>
              </a:rPr>
              <a:t>What can we do with exact (or just better…) quantum dynamics?</a:t>
            </a:r>
            <a:endParaRPr sz="1300" b="0"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Spectroscopy: Exact predictions of spectral lines for complex molecules, even better than experiments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914400" lvl="1" indent="-3111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Montserrat Medium"/>
              <a:buChar char="○"/>
            </a:pPr>
            <a:r>
              <a:rPr lang="en" sz="1300">
                <a:solidFill>
                  <a:schemeClr val="dk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Non-equilibrium system: electron transfer, photo-induced process &gt;&gt; solar cell design, artificial photosynthesis, energy storage devices…</a:t>
            </a:r>
            <a:endParaRPr sz="1300">
              <a:solidFill>
                <a:schemeClr val="dk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SzPts val="1700"/>
              <a:buFont typeface="Montserrat Medium"/>
              <a:buChar char="●"/>
            </a:pPr>
            <a:r>
              <a:rPr lang="en" sz="1300" b="0">
                <a:latin typeface="Montserrat Medium"/>
                <a:ea typeface="Montserrat Medium"/>
                <a:cs typeface="Montserrat Medium"/>
                <a:sym typeface="Montserrat Medium"/>
              </a:rPr>
              <a:t>Other fields using path integral that you may be interested in: quantum electrodynamics (QED), gauge theory, quantum gravity…</a:t>
            </a:r>
            <a:endParaRPr sz="1300" b="0"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247" name="Google Shape;247;p27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4  Conclusion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28"/>
          <p:cNvSpPr txBox="1">
            <a:spLocks noGrp="1"/>
          </p:cNvSpPr>
          <p:nvPr>
            <p:ph type="title"/>
          </p:nvPr>
        </p:nvSpPr>
        <p:spPr>
          <a:xfrm>
            <a:off x="338975" y="561150"/>
            <a:ext cx="8448300" cy="57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00"/>
              <a:t>Reference</a:t>
            </a:r>
            <a:endParaRPr sz="3900"/>
          </a:p>
        </p:txBody>
      </p:sp>
      <p:sp>
        <p:nvSpPr>
          <p:cNvPr id="253" name="Google Shape;253;p28"/>
          <p:cNvSpPr txBox="1">
            <a:spLocks noGrp="1"/>
          </p:cNvSpPr>
          <p:nvPr>
            <p:ph type="subTitle" idx="4"/>
          </p:nvPr>
        </p:nvSpPr>
        <p:spPr>
          <a:xfrm>
            <a:off x="347850" y="1260575"/>
            <a:ext cx="8448300" cy="316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300" b="0" dirty="0"/>
              <a:t>Feynman, R. P., and AR Hibbs Quantum Mechanics. "Path integrals." Lecture Notes Phys 106 (1979): 64.</a:t>
            </a:r>
            <a:endParaRPr sz="13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300" b="0" dirty="0"/>
              <a:t>Marx, Dominik, et al. "The nature of the hydrated excess proton in water." Nature 397.6720 (1999): 601-604.</a:t>
            </a:r>
            <a:endParaRPr sz="13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300" b="0" dirty="0"/>
              <a:t>Tang, Jingjing, et al. "Competing quantum tunneling processes of heavy and light particles in isocyanic acid radical anions." Nature Communications 16.1 (2025): 10687.</a:t>
            </a:r>
            <a:endParaRPr sz="13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300" b="0" dirty="0"/>
              <a:t>Tuckerman, Mark E., Dominik Marx, and Michele Parrinello. "The nature and transport mechanism of hydrated hydroxide ions in aqueous solution." Nature 417.6892 (2002): 925-929.</a:t>
            </a:r>
            <a:endParaRPr sz="1300" b="0"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 sz="1300" b="0" dirty="0"/>
              <a:t>Tuckerman, Mark E. Statistical mechanics: theory and molecular simulation. Oxford university press, 2023.</a:t>
            </a:r>
            <a:endParaRPr sz="1300" b="0" dirty="0"/>
          </a:p>
        </p:txBody>
      </p:sp>
      <p:sp>
        <p:nvSpPr>
          <p:cNvPr id="254" name="Google Shape;254;p28"/>
          <p:cNvSpPr txBox="1"/>
          <p:nvPr/>
        </p:nvSpPr>
        <p:spPr>
          <a:xfrm>
            <a:off x="338977" y="253941"/>
            <a:ext cx="2436000" cy="3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solidFill>
                  <a:srgbClr val="9A6ABA"/>
                </a:solidFill>
                <a:latin typeface="Montserrat"/>
                <a:ea typeface="Montserrat"/>
                <a:cs typeface="Montserrat"/>
                <a:sym typeface="Montserrat"/>
              </a:rPr>
              <a:t>P A R T   0 4</a:t>
            </a:r>
            <a:endParaRPr sz="700" b="1">
              <a:solidFill>
                <a:srgbClr val="9A6AB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9"/>
          <p:cNvSpPr txBox="1">
            <a:spLocks noGrp="1"/>
          </p:cNvSpPr>
          <p:nvPr>
            <p:ph type="title"/>
          </p:nvPr>
        </p:nvSpPr>
        <p:spPr>
          <a:xfrm>
            <a:off x="1506025" y="2124154"/>
            <a:ext cx="6131700" cy="89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500">
                <a:solidFill>
                  <a:schemeClr val="accent2"/>
                </a:solidFill>
              </a:rPr>
              <a:t>Q&amp;A</a:t>
            </a:r>
            <a:endParaRPr sz="650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YU Elegant">
  <a:themeElements>
    <a:clrScheme name="Simple Light">
      <a:dk1>
        <a:srgbClr val="57068C"/>
      </a:dk1>
      <a:lt1>
        <a:srgbClr val="FFFFFF"/>
      </a:lt1>
      <a:dk2>
        <a:srgbClr val="333333"/>
      </a:dk2>
      <a:lt2>
        <a:srgbClr val="E3DFE9"/>
      </a:lt2>
      <a:accent1>
        <a:srgbClr val="9A6ABA"/>
      </a:accent1>
      <a:accent2>
        <a:srgbClr val="330662"/>
      </a:accent2>
      <a:accent3>
        <a:srgbClr val="007E8A"/>
      </a:accent3>
      <a:accent4>
        <a:srgbClr val="E97300"/>
      </a:accent4>
      <a:accent5>
        <a:srgbClr val="799A05"/>
      </a:accent5>
      <a:accent6>
        <a:srgbClr val="C50F3C"/>
      </a:accent6>
      <a:hlink>
        <a:srgbClr val="57068C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1390</Words>
  <Application>Microsoft Office PowerPoint</Application>
  <PresentationFormat>全屏显示(16:9)</PresentationFormat>
  <Paragraphs>115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Frank Ruhl Libre</vt:lpstr>
      <vt:lpstr>Montserrat</vt:lpstr>
      <vt:lpstr>Montserrat Medium</vt:lpstr>
      <vt:lpstr>Montserrat SemiBold</vt:lpstr>
      <vt:lpstr>Arial</vt:lpstr>
      <vt:lpstr>NYU Elegant</vt:lpstr>
      <vt:lpstr>Path Integral Formulation Everything, everywhere, all at once</vt:lpstr>
      <vt:lpstr>Revisit the Double-slit</vt:lpstr>
      <vt:lpstr>Why do we need path integral?</vt:lpstr>
      <vt:lpstr>Path Integral Formulation </vt:lpstr>
      <vt:lpstr>Path Integral Formulation </vt:lpstr>
      <vt:lpstr>Path Integral Molecular Dynamics</vt:lpstr>
      <vt:lpstr>Proton Transfer in Water</vt:lpstr>
      <vt:lpstr>Reaction Rate and Mechanism</vt:lpstr>
      <vt:lpstr>Conclusion</vt:lpstr>
      <vt:lpstr>Reference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Yuchen Shi</cp:lastModifiedBy>
  <cp:revision>4</cp:revision>
  <dcterms:modified xsi:type="dcterms:W3CDTF">2025-12-11T18:12:32Z</dcterms:modified>
</cp:coreProperties>
</file>